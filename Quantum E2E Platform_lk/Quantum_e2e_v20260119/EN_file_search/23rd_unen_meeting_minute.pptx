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7772400" cy="10058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presProps" Target="pres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904248" y="930909"/>
            <a:ext cx="5960745" cy="81045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57729" algn="l" rtl="0" eaLnBrk="0">
              <a:lnSpc>
                <a:spcPct val="89000"/>
              </a:lnSpc>
              <a:tabLst/>
            </a:pP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Twenty-third</a:t>
            </a:r>
            <a:r>
              <a:rPr sz="1100" b="1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Meeting of the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1736089" algn="l" rtl="0" eaLnBrk="0">
              <a:lnSpc>
                <a:spcPct val="89000"/>
              </a:lnSpc>
              <a:spcBef>
                <a:spcPts val="1088"/>
              </a:spcBef>
              <a:tabLst/>
            </a:pP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United</a:t>
            </a:r>
            <a:r>
              <a:rPr sz="1100" b="1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Nations</a:t>
            </a:r>
            <a:r>
              <a:rPr sz="1100" b="1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Economist</a:t>
            </a:r>
            <a:r>
              <a:rPr sz="1100" b="1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Network (UNE</a:t>
            </a:r>
            <a:r>
              <a:rPr sz="11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N)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1663700" algn="l" rtl="0" eaLnBrk="0">
              <a:lnSpc>
                <a:spcPct val="89000"/>
              </a:lnSpc>
              <a:spcBef>
                <a:spcPts val="1055"/>
              </a:spcBef>
              <a:tabLst/>
            </a:pP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Thursday, 6 December 2021 8:30 -</a:t>
            </a:r>
            <a:r>
              <a:rPr sz="1100" b="1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10:00 a.m</a:t>
            </a: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16509" indent="5080" algn="l" rtl="0" eaLnBrk="0">
              <a:lnSpc>
                <a:spcPct val="100000"/>
              </a:lnSpc>
              <a:spcBef>
                <a:spcPts val="1079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Mr.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Navid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Hanif, Assistant Secretary-Gen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eral of the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Department of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Economic and Social Affairs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(DESA),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opened the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meeting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by welcoming the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articipants and introducing the Agenda.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19684" algn="l" rtl="0" eaLnBrk="0">
              <a:lnSpc>
                <a:spcPct val="89000"/>
              </a:lnSpc>
              <a:spcBef>
                <a:spcPts val="1058"/>
              </a:spcBef>
              <a:tabLst/>
            </a:pP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Finalization of Policy</a:t>
            </a:r>
            <a:r>
              <a:rPr sz="1100" b="1" kern="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Briefs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22225" algn="l" rtl="0" eaLnBrk="0">
              <a:lnSpc>
                <a:spcPct val="89000"/>
              </a:lnSpc>
              <a:spcBef>
                <a:spcPts val="1083"/>
              </a:spcBef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Mr.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Hanif took stock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 the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briefs on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New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Economics for Sustainable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Development,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Innovative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Finance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19684" indent="-3175" algn="l" rtl="0" eaLnBrk="0">
              <a:lnSpc>
                <a:spcPct val="100000"/>
              </a:lnSpc>
              <a:spcBef>
                <a:spcPts val="264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Digital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Economic Transf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ormation.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He said that the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authors still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have the opportunity to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make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minor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updates and tweaking,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keeping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mind that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DESA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has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initiat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ed the copyediting and typesetting of the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12700" indent="8254" algn="l" rtl="0" eaLnBrk="0">
              <a:lnSpc>
                <a:spcPct val="99000"/>
              </a:lnSpc>
              <a:spcBef>
                <a:spcPts val="267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briefs.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Participants welcomed the opport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unity to finalize the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briefs, and expressed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need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precise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timeline for finalization of the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briefs. When finalized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we should aim for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soft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strategic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launches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16509" indent="3810" algn="l" rtl="0" eaLnBrk="0">
              <a:lnSpc>
                <a:spcPct val="106000"/>
              </a:lnSpc>
              <a:spcBef>
                <a:spcPts val="295"/>
              </a:spcBef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briefs. This can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include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UNEN webinar to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present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briefs,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but other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ideas on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disseminating can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      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discussed further.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19684" algn="l" rtl="0" eaLnBrk="0">
              <a:lnSpc>
                <a:spcPct val="89000"/>
              </a:lnSpc>
              <a:spcBef>
                <a:spcPts val="897"/>
              </a:spcBef>
              <a:tabLst/>
            </a:pP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Presentat</a:t>
            </a: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ion of</a:t>
            </a:r>
            <a:r>
              <a:rPr sz="1100" b="1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responses to</a:t>
            </a:r>
            <a:r>
              <a:rPr sz="1100" b="1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UNEN survey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22225" algn="l" rtl="0" eaLnBrk="0">
              <a:lnSpc>
                <a:spcPct val="89000"/>
              </a:lnSpc>
              <a:spcBef>
                <a:spcPts val="1080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Mr. Shantanu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Mukherjee,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ESA,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presented the findings from the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UNEN survey which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received 44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15240" indent="5080" algn="l" rtl="0" eaLnBrk="0">
              <a:lnSpc>
                <a:spcPct val="99000"/>
              </a:lnSpc>
              <a:spcBef>
                <a:spcPts val="267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responses. The survey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included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questions on the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usefulness of the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UNEN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report on </a:t>
            </a:r>
            <a:r>
              <a:rPr sz="1100" i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Shaping</a:t>
            </a:r>
            <a:r>
              <a:rPr sz="1100" i="1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i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1100" i="1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i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Trends</a:t>
            </a:r>
            <a:r>
              <a:rPr sz="1100" i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</a:t>
            </a:r>
            <a:r>
              <a:rPr sz="1100" i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</a:t>
            </a:r>
            <a:r>
              <a:rPr sz="1100" i="1" kern="0" spc="-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i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Our Time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 thematic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briefs.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Overall, the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results from the s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urvey showed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that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UNEN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isa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useful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12700" indent="8254" algn="l" rtl="0" eaLnBrk="0">
              <a:lnSpc>
                <a:spcPct val="105000"/>
              </a:lnSpc>
              <a:spcBef>
                <a:spcPts val="321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network an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 the work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done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has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been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helping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 various dimensions.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 example,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82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percent indicated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that the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UNEN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report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as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been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useful. Similarly, the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results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regarding the thematic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briefs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also indicated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that they were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useful,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rticular for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informing CCA and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UNCTs.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Responses also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recommended that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UNEN continue to strengthen the glo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bal community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practice,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connecting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sharing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knowledge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across all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levels, though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peer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exchanges, webinars and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policy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briefs.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16509" algn="l" rtl="0" eaLnBrk="0">
              <a:lnSpc>
                <a:spcPct val="89000"/>
              </a:lnSpc>
              <a:spcBef>
                <a:spcPts val="1083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Going forward,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regarding topics for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upcoming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briefs, the survey found that the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informal economy,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20954" algn="l" rtl="0" eaLnBrk="0">
              <a:lnSpc>
                <a:spcPct val="89000"/>
              </a:lnSpc>
              <a:spcBef>
                <a:spcPts val="265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beyond GDP, taxation and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migration were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 interest to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most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respondents.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survey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also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identified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13970" indent="1905" algn="l" rtl="0" eaLnBrk="0">
              <a:lnSpc>
                <a:spcPct val="102000"/>
              </a:lnSpc>
              <a:spcBef>
                <a:spcPts val="305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other topics that could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 explored such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as SD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finance,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climate finance,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debt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issues,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digitalization,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early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warning systems and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behavioral science for SDGs.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 terms of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operational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changesof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UNEN, there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were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suggestions to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make the obje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ctive and scope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UNEN narrower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more focused.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19684" algn="l" rtl="0" eaLnBrk="0">
              <a:lnSpc>
                <a:spcPct val="75000"/>
              </a:lnSpc>
              <a:spcBef>
                <a:spcPts val="1188"/>
              </a:spcBef>
              <a:tabLst/>
            </a:pPr>
            <a:r>
              <a:rPr sz="11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Discussion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22225" algn="l" rtl="0" eaLnBrk="0">
              <a:lnSpc>
                <a:spcPct val="89000"/>
              </a:lnSpc>
              <a:spcBef>
                <a:spcPts val="1163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Following the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presentatio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 of the survey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results,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Mr.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Hanif indicated that since the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beginning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 the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16509" indent="-3810" algn="l" rtl="0" eaLnBrk="0">
              <a:lnSpc>
                <a:spcPct val="100000"/>
              </a:lnSpc>
              <a:spcBef>
                <a:spcPts val="264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year, we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have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been going throug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 challenging times, and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 these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challenging times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there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need for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distinct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 voice. This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network shoul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 a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platform for developing this voice,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disseminating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it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15875" indent="-1905" algn="l" rtl="0" eaLnBrk="0">
              <a:lnSpc>
                <a:spcPct val="103000"/>
              </a:lnSpc>
              <a:spcBef>
                <a:spcPts val="268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widely. At the sametime, the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responses from the survey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highlight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need to find a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balance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between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research work and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responding today-to-day challenges facing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 econom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ists, which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might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require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sharper focus and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making sure we are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prepared for the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cutting-edge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issues coming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our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way.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22225" algn="l" rtl="0" eaLnBrk="0">
              <a:lnSpc>
                <a:spcPct val="89000"/>
              </a:lnSpc>
              <a:spcBef>
                <a:spcPts val="1081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 the discussion that followed,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participants agreed that a stronger voice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needed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with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20954" algn="l" rtl="0" eaLnBrk="0">
              <a:lnSpc>
                <a:spcPct val="89000"/>
              </a:lnSpc>
              <a:spcBef>
                <a:spcPts val="265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regard to an economic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pe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rspective on challenges and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issues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at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all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levels.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It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was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argued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that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other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19050" algn="l" rtl="0" eaLnBrk="0">
              <a:lnSpc>
                <a:spcPct val="89000"/>
              </a:lnSpc>
              <a:spcBef>
                <a:spcPts val="266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institutions are too focused on economics,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sometimes a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 the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expense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 social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environmental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16509" algn="l" rtl="0" eaLnBrk="0">
              <a:lnSpc>
                <a:spcPct val="89000"/>
              </a:lnSpc>
              <a:spcBef>
                <a:spcPts val="289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challenges, which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may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result in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reversal of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hard-earned gain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son SDGs.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 example,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country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economists</a:t>
            </a:r>
            <a:endParaRPr sz="11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/>
          <p:nvPr/>
        </p:nvSpPr>
        <p:spPr>
          <a:xfrm>
            <a:off x="904528" y="930909"/>
            <a:ext cx="5959475" cy="6629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indent="3810" algn="l" rtl="0" eaLnBrk="0">
              <a:lnSpc>
                <a:spcPct val="106000"/>
              </a:lnSpc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reported a strong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focus on fiscal consolidation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at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country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level.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this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context,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there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need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concentrate efforts to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provide eviden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ce for the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need to continue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financing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areas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important for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SDG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progress.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It was suggested that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network should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continue to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put forward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new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ideas and emerging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issues,that can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useful for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country economists’ discussions with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governments and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basis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advocacy.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Participants also felt the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need t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have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realistic expectations given capacity and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resource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15875" algn="l" rtl="0" eaLnBrk="0">
              <a:lnSpc>
                <a:spcPct val="89000"/>
              </a:lnSpc>
              <a:spcBef>
                <a:spcPts val="266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constraints,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ticularly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 comparison to the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IFIs.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15240" algn="l" rtl="0" eaLnBrk="0">
              <a:lnSpc>
                <a:spcPct val="77000"/>
              </a:lnSpc>
              <a:spcBef>
                <a:spcPts val="1158"/>
              </a:spcBef>
              <a:tabLst/>
            </a:pP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Conclusion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21590" algn="l" rtl="0" eaLnBrk="0">
              <a:lnSpc>
                <a:spcPct val="89000"/>
              </a:lnSpc>
              <a:spcBef>
                <a:spcPts val="1139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Mr.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Hanif concluded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by summarizing the discussion and ou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tlining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nextsteps.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13970" algn="l" rtl="0" eaLnBrk="0">
              <a:lnSpc>
                <a:spcPct val="89000"/>
              </a:lnSpc>
              <a:spcBef>
                <a:spcPts val="1083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While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recognizing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resource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limitations,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he stressed the need to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make the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most of what we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have,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20320" algn="l" rtl="0" eaLnBrk="0">
              <a:lnSpc>
                <a:spcPct val="89000"/>
              </a:lnSpc>
              <a:spcBef>
                <a:spcPts val="265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pointing out that the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Organi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zation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has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historically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made contributions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 shifting the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position of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19050" indent="1270" algn="l" rtl="0" eaLnBrk="0">
              <a:lnSpc>
                <a:spcPct val="99000"/>
              </a:lnSpc>
              <a:spcBef>
                <a:spcPts val="291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members state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 and of entities such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as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IFIs through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its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analysis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advocacy.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UNEN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can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critical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 strengthening the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voice of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 economists.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21590" algn="l" rtl="0" eaLnBrk="0">
              <a:lnSpc>
                <a:spcPct val="89000"/>
              </a:lnSpc>
              <a:spcBef>
                <a:spcPts val="1081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He agreed the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 was a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need to sharpen the focus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UNEN.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While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it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would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difficult for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UNEN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15875" indent="3810" algn="l" rtl="0" eaLnBrk="0">
              <a:lnSpc>
                <a:spcPct val="100000"/>
              </a:lnSpc>
              <a:spcBef>
                <a:spcPts val="267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produce cou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ntry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level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papers, the global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papers and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briefs can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 tailored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at the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country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level.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Members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network are available to support s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uch work. Also, the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existing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policy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briefs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will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finalized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12700" indent="3175" algn="l" rtl="0" eaLnBrk="0">
              <a:lnSpc>
                <a:spcPct val="99000"/>
              </a:lnSpc>
              <a:spcBef>
                <a:spcPts val="267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coming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months, and four themes,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informal economy, taxation,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migration and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beyond GDP,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are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ready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further study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(we will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hold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beyond GDP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ntil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HLCP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paper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released). Additional topics could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betaken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19684" algn="l" rtl="0" eaLnBrk="0">
              <a:lnSpc>
                <a:spcPct val="89000"/>
              </a:lnSpc>
              <a:spcBef>
                <a:spcPts val="289"/>
              </a:spcBef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up once these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are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underway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19684" indent="-5714" algn="l" rtl="0" eaLnBrk="0">
              <a:lnSpc>
                <a:spcPct val="100000"/>
              </a:lnSpc>
              <a:spcBef>
                <a:spcPts val="1058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Webinars, dedicated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briefings on specific topics and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other forms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peer-to-peer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exchanges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would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also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 developed further.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248284" algn="l" rtl="0" eaLnBrk="0">
              <a:lnSpc>
                <a:spcPct val="89000"/>
              </a:lnSpc>
              <a:spcBef>
                <a:spcPts val="1082"/>
              </a:spcBef>
              <a:tabLst/>
            </a:pP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Next Step</a:t>
            </a:r>
            <a:r>
              <a:rPr sz="11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473075" indent="-227329" algn="l" rtl="0" eaLnBrk="0">
              <a:lnSpc>
                <a:spcPct val="99000"/>
              </a:lnSpc>
              <a:spcBef>
                <a:spcPts val="1132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policy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briefs will edited/ty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peset, according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schedule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finalized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by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DESA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       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consultation with the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co-Chairs of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 writing groups.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473075" indent="-227329" algn="l" rtl="0" eaLnBrk="0">
              <a:lnSpc>
                <a:spcPct val="106000"/>
              </a:lnSpc>
              <a:spcBef>
                <a:spcPts val="340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 chapeau/introduction to the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NESD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olicy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brief will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 circulated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with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UNEN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members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comments.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245745" algn="l" rtl="0" eaLnBrk="0">
              <a:lnSpc>
                <a:spcPct val="89000"/>
              </a:lnSpc>
              <a:spcBef>
                <a:spcPts val="176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Thematic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briefs would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 developed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 the ar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eas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informal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economy,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taxation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 the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SDGs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473709" algn="l" rtl="0" eaLnBrk="0">
              <a:lnSpc>
                <a:spcPct val="89000"/>
              </a:lnSpc>
              <a:spcBef>
                <a:spcPts val="241"/>
              </a:spcBef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migration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(with ‘</a:t>
            </a:r>
            <a:r>
              <a:rPr sz="1100" kern="0" spc="-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beyond GDP’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being deferred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until the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HLCP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paper on the topi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has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been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478155" algn="l" rtl="0" eaLnBrk="0">
              <a:lnSpc>
                <a:spcPct val="89000"/>
              </a:lnSpc>
              <a:spcBef>
                <a:spcPts val="289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released).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UNEN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members wil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invited to express their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interest in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contributing to the drafting.</a:t>
            </a:r>
            <a:endParaRPr sz="1100" dirty="0">
              <a:latin typeface="Calibri"/>
              <a:ea typeface="Calibri"/>
              <a:cs typeface="Calibri"/>
            </a:endParaRPr>
          </a:p>
          <a:p>
            <a:pPr marL="469265" indent="-223520" algn="l" rtl="0" eaLnBrk="0">
              <a:lnSpc>
                <a:spcPct val="99000"/>
              </a:lnSpc>
              <a:spcBef>
                <a:spcPts val="342"/>
              </a:spcBef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DESA will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updating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UNEN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mailing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list,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will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reaching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out to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entities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make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sure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list of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members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up-to-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date.</a:t>
            </a:r>
            <a:endParaRPr sz="11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477519" indent="-231775" algn="l" rtl="0" eaLnBrk="0">
              <a:lnSpc>
                <a:spcPct val="99000"/>
              </a:lnSpc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As the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briefs are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being finalized and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publis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hed,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UNEN will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schedule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soft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launches/webinars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present the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bri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efs.</a:t>
            </a:r>
            <a:endParaRPr sz="11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C0FC5C1A49D4C946BCB0AD82E46E71E2" ma:contentTypeVersion="19" ma:contentTypeDescription="新建文档。" ma:contentTypeScope="" ma:versionID="5a8b1ec962107a2a21aa1792deb9e09a">
  <xsd:schema xmlns:xsd="http://www.w3.org/2001/XMLSchema" xmlns:xs="http://www.w3.org/2001/XMLSchema" xmlns:p="http://schemas.microsoft.com/office/2006/metadata/properties" xmlns:ns2="f05a975e-383b-436f-948a-d52c1d985cfd" xmlns:ns3="db44b47a-8072-4951-bfca-33e22eb2e439" targetNamespace="http://schemas.microsoft.com/office/2006/metadata/properties" ma:root="true" ma:fieldsID="f81c4ebad21a47ab2d01244ed105da0a" ns2:_="" ns3:_="">
    <xsd:import namespace="f05a975e-383b-436f-948a-d52c1d985cfd"/>
    <xsd:import namespace="db44b47a-8072-4951-bfca-33e22eb2e4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5a975e-383b-436f-948a-d52c1d985c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图像标记" ma:readOnly="false" ma:fieldId="{5cf76f15-5ced-4ddc-b409-7134ff3c332f}" ma:taxonomyMulti="true" ma:sspId="10b2ab70-381d-4de1-873d-678182fc596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44b47a-8072-4951-bfca-33e22eb2e439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b5b72618-d285-46db-96f3-9c8df3dff5a5}" ma:internalName="TaxCatchAll" ma:showField="CatchAllData" ma:web="db44b47a-8072-4951-bfca-33e22eb2e4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共享对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b44b47a-8072-4951-bfca-33e22eb2e439" xsi:nil="true"/>
    <lcf76f155ced4ddcb4097134ff3c332f xmlns="f05a975e-383b-436f-948a-d52c1d985cf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8E0FAC7-EB62-46DF-AFEA-84E592E26F6A}"/>
</file>

<file path=customXml/itemProps2.xml><?xml version="1.0" encoding="utf-8"?>
<ds:datastoreItem xmlns:ds="http://schemas.openxmlformats.org/officeDocument/2006/customXml" ds:itemID="{2E9528A7-B76F-4C33-80DA-2E1E400BB6E6}"/>
</file>

<file path=customXml/itemProps3.xml><?xml version="1.0" encoding="utf-8"?>
<ds:datastoreItem xmlns:ds="http://schemas.openxmlformats.org/officeDocument/2006/customXml" ds:itemID="{040C149F-DBAC-46AD-8D83-9AB55458A127}"/>
</file>

<file path=docProps/app.xml><?xml version="1.0" encoding="utf-8"?>
<ap:Properties xmlns:vt="http://schemas.openxmlformats.org/officeDocument/2006/docPropsVTypes" xmlns:ap="http://schemas.openxmlformats.org/officeDocument/2006/extended-properties">
  <ap:Application>Microsoft® Word for Microsoft 365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Kenneth Iversen</dc:creator>
  <dcterms:created xsi:type="dcterms:W3CDTF">2022-12-12T11:33:45Z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wqlLaW5nc29mdCBQREYgdG8gV1BTIDEwMA</vt:lpwstr>
  </property>
  <property fmtid="{D5CDD505-2E9C-101B-9397-08002B2CF9AE}" pid="3" name="Created">
    <vt:filetime>2025-01-07T10:57:12Z</vt:filetime>
  </property>
  <property fmtid="{D5CDD505-2E9C-101B-9397-08002B2CF9AE}" pid="4" name="ContentTypeId">
    <vt:lpwstr>0x010100C0FC5C1A49D4C946BCB0AD82E46E71E2</vt:lpwstr>
  </property>
</Properties>
</file>